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2B"/>
                </a:solidFill>
              </a:defRPr>
            </a:pPr>
            <a:r>
              <a:t>RiskPulse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673"/>
                </a:solidFill>
              </a:defRPr>
            </a:pPr>
            <a:r>
              <a:t>AI/NLP Risk Engine + Event-Driven Portfolio Stress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303520" cy="1828800"/>
          </a:xfrm>
          <a:prstGeom prst="roundRect">
            <a:avLst/>
          </a:prstGeom>
          <a:solidFill>
            <a:srgbClr val="EAF2FF"/>
          </a:solidFill>
          <a:ln>
            <a:solidFill>
              <a:srgbClr val="28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212B"/>
                </a:solidFill>
              </a:defRPr>
            </a:pPr>
            <a:r>
              <a:t>Problem</a:t>
            </a:r>
            <a:br/>
            <a:r>
              <a:t>Turn unstructured financial news into structured risk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920240"/>
            <a:ext cx="5212080" cy="1828800"/>
          </a:xfrm>
          <a:prstGeom prst="roundRect">
            <a:avLst/>
          </a:prstGeom>
          <a:solidFill>
            <a:srgbClr val="FFF4E5"/>
          </a:solidFill>
          <a:ln>
            <a:solidFill>
              <a:srgbClr val="C67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212B"/>
                </a:solidFill>
              </a:defRPr>
            </a:pPr>
            <a:r>
              <a:t>Solution</a:t>
            </a:r>
            <a:br/>
            <a:r>
              <a:t>Frozen NLP inference -&gt; impact calibration -&gt; portfolio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2B"/>
                </a:solidFill>
              </a:defRPr>
            </a:pPr>
            <a:r>
              <a:t>1. Problem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Ingest at least two public text sources and normalize them into one event stream.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Return sentiment (-1 to +1), event class, confidence, impact (1-10), entity and source metadata.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Choose Module B: event-driven stress testing. High-impact events (&gt;=7) trigger transparent asset-level shocks.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Use frozen NLP models; train CPU XGBoost on public EDT next-day stock-move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2B"/>
                </a:solidFill>
              </a:defRPr>
            </a:pPr>
            <a:r>
              <a:t>2. System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GDELT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19202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Google RSS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9202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Normalize + Dedup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2344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FinBERT</a:t>
            </a:r>
            <a:br/>
            <a:r>
              <a:t>Sentiment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78892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MiniLM</a:t>
            </a:r>
            <a:br/>
            <a:r>
              <a:t>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202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Prototype</a:t>
            </a:r>
            <a:br/>
            <a:r>
              <a:t>Event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9202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12B"/>
                </a:solidFill>
              </a:defRPr>
            </a:pPr>
            <a:r>
              <a:t>XGBoost</a:t>
            </a:r>
            <a:br/>
            <a:r>
              <a:t>Impact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441448"/>
            <a:ext cx="137160" cy="0"/>
          </a:xfrm>
          <a:prstGeom prst="line">
            <a:avLst/>
          </a:prstGeom>
          <a:ln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0" y="2441448"/>
            <a:ext cx="137159" cy="0"/>
          </a:xfrm>
          <a:prstGeom prst="line">
            <a:avLst/>
          </a:prstGeom>
          <a:ln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257800" y="1764792"/>
            <a:ext cx="411480" cy="676656"/>
          </a:xfrm>
          <a:prstGeom prst="line">
            <a:avLst/>
          </a:prstGeom>
          <a:ln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" y="2441448"/>
            <a:ext cx="411480" cy="877824"/>
          </a:xfrm>
          <a:prstGeom prst="line">
            <a:avLst/>
          </a:prstGeom>
          <a:ln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178040" y="2441448"/>
            <a:ext cx="502920" cy="877824"/>
          </a:xfrm>
          <a:prstGeom prst="line">
            <a:avLst/>
          </a:prstGeom>
          <a:ln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89720" y="2441448"/>
            <a:ext cx="365760" cy="0"/>
          </a:xfrm>
          <a:prstGeom prst="line">
            <a:avLst/>
          </a:prstGeom>
          <a:ln>
            <a:solidFill>
              <a:srgbClr val="5A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4663440"/>
            <a:ext cx="4023360" cy="822960"/>
          </a:xfrm>
          <a:prstGeom prst="roundRect">
            <a:avLst/>
          </a:prstGeom>
          <a:solidFill>
            <a:srgbClr val="EAF2FF"/>
          </a:solidFill>
          <a:ln>
            <a:solidFill>
              <a:srgbClr val="28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12B"/>
                </a:solidFill>
              </a:defRPr>
            </a:pPr>
            <a:r>
              <a:t>Risk signal -&gt; FastAPI / CSV -&gt; Stress engine /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2B"/>
                </a:solidFill>
              </a:defRPr>
            </a:pPr>
            <a:r>
              <a:t>3. 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GDELT DOC 2.x + Google News RSS are no-key public connectors; NewsAPI is optional through an environment variable.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FinBERT is domain-specific sentiment inference. MiniLM creates frozen sentence embeddings; event labels are selected by cosine similarity against fixed prototypes.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XGBoost regresses log absolute next-day stock moves from frozen 384-dimension MiniLM embeddings, trained on public EDT labels.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The stress engine maps event classes to explicit equity/rate/spread/PD shocks, then reports asset-level and portfolio-level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2B"/>
                </a:solidFill>
              </a:defRPr>
            </a:pPr>
            <a:r>
              <a:t>4. Demo Outputs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743200" cy="1280160"/>
          </a:xfrm>
          <a:prstGeom prst="roundRect">
            <a:avLst/>
          </a:prstGeom>
          <a:solidFill>
            <a:srgbClr val="EAF2FF"/>
          </a:solidFill>
          <a:ln>
            <a:solidFill>
              <a:srgbClr val="28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212B"/>
                </a:solidFill>
              </a:defRPr>
            </a:pPr>
            <a:r>
              <a:t>Structured signal</a:t>
            </a:r>
            <a:br/>
            <a:r>
              <a:t>Sentiment + Event +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554480"/>
            <a:ext cx="2743200" cy="1280160"/>
          </a:xfrm>
          <a:prstGeom prst="roundRect">
            <a:avLst/>
          </a:prstGeom>
          <a:solidFill>
            <a:srgbClr val="FFF4E5"/>
          </a:solidFill>
          <a:ln>
            <a:solidFill>
              <a:srgbClr val="C67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212B"/>
                </a:solidFill>
              </a:defRPr>
            </a:pPr>
            <a:r>
              <a:t>Trigger</a:t>
            </a:r>
            <a:br/>
            <a:r>
              <a:t>Impact &gt;=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54480"/>
            <a:ext cx="2743200" cy="1280160"/>
          </a:xfrm>
          <a:prstGeom prst="roundRect">
            <a:avLst/>
          </a:prstGeom>
          <a:solidFill>
            <a:srgbClr val="EAF2FF"/>
          </a:solidFill>
          <a:ln>
            <a:solidFill>
              <a:srgbClr val="28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212B"/>
                </a:solidFill>
              </a:defRPr>
            </a:pPr>
            <a:r>
              <a:t>Stress test</a:t>
            </a:r>
            <a:br/>
            <a:r>
              <a:t>Portfolio before /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</a:defRPr>
            </a:pPr>
            <a:r>
              <a:t>The offline demo processes six illustrative financial events across macro, geopolitical, credit, cyber, earnings and M&amp;A categories.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</a:defRPr>
            </a:pPr>
            <a:r>
              <a:t>Model check: 50,000 rows; 10,000 chronological holdout. XGBoost MAE 1.699 vs 1.731 percentage points for a median baseline; improvement is small.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2B"/>
                </a:solidFill>
              </a:defRPr>
            </a:pPr>
            <a:r>
              <a:t>5. Domain Impact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Business value: reduce time from news arrival to a machine-readable risk flag and a portfolio stress view.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Traceability: each portfolio loss can be decomposed into beta, duration, spread duration and credit-loss components.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Limitation: EDT labels target next-day single-stock movement, not portfolio loss. Some ticker assignments are wrong; the 50,000-row holdout MAE only narrowly beats the median baseline.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</a:defRPr>
            </a:pPr>
            <a:r>
              <a:t>Next: strengthen issuer labels and test across more years and issuers.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